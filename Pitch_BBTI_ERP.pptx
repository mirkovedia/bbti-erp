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Estimada Gerencia, hoy les presento el BBTI ERP, una solución diseñada para transformar la forma en que administramos nuestra fábrica. Dejaremos atrás las llamadas constantes y las hojas de cálculo desconectadas para dar paso a un Centro de Control Digital moderno que unifica todas nuestras áreas en una sola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Actualmente, el mayor enemigo de nuestra eficiencia es la falta de visibilidad en tiempo real. Perdemos valioso tiempo en reuniones de seguimiento solo para saber en qué estado están los proyectos, quién autorizó un plano, o si los materiales ya llegaron. La invisibilidad cuesta dinero, demoras y frustración.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BBTI ERP no es solo un software de registro; es el sistema nervioso central de nuestra planta. Automatiza el flujo de trabajo y conecta a Comercial, Ingeniería, Logística, Producción y Finanzas bajo reglas estrictas que garantizan que nada se salte y que todo quede registrado de forma automática.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gerencia, esta es la herramienta de toma de decisiones definitiva. El Command Center Feed le da al gerente el control absoluto del minuto a minuto de la fábrica sin tener que enviar un solo mensaje o hacer una llamada. Sabe exactamente quién subió planos, quién completó compras o quién autorizó un pago.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 implementado un sistema de firmas digitales por área. Un ingeniero no puede autorizar el inicio de producción si Logística no ha firmado la compra de materiales. Y Logística no puede comprar si Ingeniería no ha aprobado el despiece. Esto elimina el desorden y delimita las responsabilidades de cada jefe de área.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transcribir una cotización con 80 materiales tomaba hasta 2 horas y conllevaba riesgos de tipeo. Con el importador automático, el ERP procesa el archivo de Comercial en menos de 5 segundos, poblando la lista de materiales de Logística con precisión matemática.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es flexible y seguro. Permite cambiar la moneda base de la planta e IGV desde la configuración y se adapta instantáneamente. Además, protege la información confidencial mediante políticas estrictas a nivel de base de datos para que los montos financieros solo sean visibles por las personas autorizadas.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esta implementación, no solo ganamos control, ganamos tiempo y dinero. Reducimos drásticamente los errores de comunicación y compras en planta, aceleramos los tiempos de respuesta y le damos a la gerencia las métricas necesarias para negociar mejor con clientes y optimizar la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Desde la última vez que les mostré el sistema, el foco de este ciclo fue uno solo: que la herramienta sea más fácil y útil en el día a día. No agregamos complejidad; agregamos claridad. Les muestro las cinco mejoras más importantes.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inicio dejó de ser un panel técnico para convertirse en el tablero de mando del gerente. Cobrado contra por cobrar, entregas ordenadas con los retrasados arriba, y todo en lenguaje de planta. Si hay un proyecto retrasado, la tarjeta se pone roja sola: no hay que ir a buscar el problema, el problema salta a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mejora que más se siente. El feed ya no espera 10 segundos: en cuanto alguien firma una etapa o registra un pago, aparece al instante con un destello y un sonido suave. La gerencia puede tener esta pantalla abierta y enterarse de todo lo que pasa en la planta sin hacer una sola llamada.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un retraso se descubría cuando ya era tarde. Ahora hay un robot que cada mañana revisa los plazos y avisa con anticipación, pero con criterio: le habla solo al área responsable de la etapa atascada, una sola vez, y con los días de margen que la gerencia configure. Si se mueve la fecha de entrega, el aviso se reinicia automáticamente.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panel mide avance del trabajo, no presencia: cuenta los hitos que de verdad mueven un proyecto. Distingue una firma de etapa o una compra de una simple edición rutinaria, y marca en rojo a quien no tuvo movimientos. Es una herramienta de gestión justa, basada en resultados visibles en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dos frentes. Primero, reportes de nivel gerencial en tres pestañas, exportables a Excel y PDF para reuniones de directorio. Y segundo, confiabilidad: corregimos un caso en que dos áreas trabajando al mismo tiempo podían pisarse los cambios. Hoy el sistema garantiza que el estado final siempre sea el correcto, incluso bajo uso intenso.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Gerente, el ERP ya está desplegado en producción, listo para ser adoptado por todos los jefes de área de la planta. Con su aprobación final para iniciar la capacitación y puesta en marcha, daremos el salto definitivo hacia la digitalización total de nuestra operación.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914400" y="1463040"/>
            <a:ext cx="10332720" cy="914400"/>
          </a:xfrm>
          <a:prstGeom prst="rect">
            <a:avLst/>
          </a:prstGeom>
          <a:noFill/>
          <a:ln/>
        </p:spPr>
        <p:txBody>
          <a:bodyPr wrap="square" rtlCol="0" anchor="ctr"/>
          <a:lstStyle/>
          <a:p>
            <a:pPr indent="0" marL="0">
              <a:buNone/>
            </a:pPr>
            <a:r>
              <a:rPr lang="en-US" sz="4800" b="1" dirty="0">
                <a:solidFill>
                  <a:srgbClr val="EC9D2E"/>
                </a:solidFill>
                <a:latin typeface="Trebuchet MS" pitchFamily="34" charset="0"/>
                <a:ea typeface="Trebuchet MS" pitchFamily="34" charset="-122"/>
                <a:cs typeface="Trebuchet MS" pitchFamily="34" charset="-120"/>
              </a:rPr>
              <a:t>BBTI ERP</a:t>
            </a:r>
            <a:endParaRPr lang="en-US" sz="4800" dirty="0"/>
          </a:p>
        </p:txBody>
      </p:sp>
      <p:sp>
        <p:nvSpPr>
          <p:cNvPr id="3" name="Text 1"/>
          <p:cNvSpPr/>
          <p:nvPr/>
        </p:nvSpPr>
        <p:spPr>
          <a:xfrm>
            <a:off x="914400" y="2377440"/>
            <a:ext cx="10332720" cy="73152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El Centro de Control Digital de Nuestra Planta</a:t>
            </a:r>
            <a:endParaRPr lang="en-US" sz="2400" dirty="0"/>
          </a:p>
        </p:txBody>
      </p:sp>
      <p:sp>
        <p:nvSpPr>
          <p:cNvPr id="4" name="Text 2"/>
          <p:cNvSpPr/>
          <p:nvPr/>
        </p:nvSpPr>
        <p:spPr>
          <a:xfrm>
            <a:off x="914400" y="3108960"/>
            <a:ext cx="10332720" cy="457200"/>
          </a:xfrm>
          <a:prstGeom prst="rect">
            <a:avLst/>
          </a:prstGeom>
          <a:noFill/>
          <a:ln/>
        </p:spPr>
        <p:txBody>
          <a:bodyPr wrap="square" rtlCol="0" anchor="ctr"/>
          <a:lstStyle/>
          <a:p>
            <a:pPr indent="0" marL="0">
              <a:buNone/>
            </a:pPr>
            <a:r>
              <a:rPr lang="en-US" sz="1600" dirty="0">
                <a:solidFill>
                  <a:srgbClr val="94A3B8"/>
                </a:solidFill>
                <a:latin typeface="Arial" pitchFamily="34" charset="0"/>
                <a:ea typeface="Arial" pitchFamily="34" charset="-122"/>
                <a:cs typeface="Arial" pitchFamily="34" charset="-120"/>
              </a:rPr>
              <a:t>Eficiencia, Trazabilidad en Tiempo Real y Control Absoluto</a:t>
            </a:r>
            <a:endParaRPr lang="en-US" sz="1600" dirty="0"/>
          </a:p>
        </p:txBody>
      </p:sp>
      <p:sp>
        <p:nvSpPr>
          <p:cNvPr id="5" name="Text 3"/>
          <p:cNvSpPr/>
          <p:nvPr/>
        </p:nvSpPr>
        <p:spPr>
          <a:xfrm>
            <a:off x="914400" y="5303520"/>
            <a:ext cx="10332720" cy="365760"/>
          </a:xfrm>
          <a:prstGeom prst="rect">
            <a:avLst/>
          </a:prstGeom>
          <a:noFill/>
          <a:ln/>
        </p:spPr>
        <p:txBody>
          <a:bodyPr wrap="square" rtlCol="0" anchor="ctr"/>
          <a:lstStyle/>
          <a:p>
            <a:pPr indent="0" marL="0">
              <a:buNone/>
            </a:pPr>
            <a:r>
              <a:rPr lang="en-US" sz="1200" dirty="0">
                <a:solidFill>
                  <a:srgbClr val="EC9D2E"/>
                </a:solidFill>
                <a:latin typeface="Arial" pitchFamily="34" charset="0"/>
                <a:ea typeface="Arial" pitchFamily="34" charset="-122"/>
                <a:cs typeface="Arial" pitchFamily="34" charset="-120"/>
              </a:rPr>
              <a:t>Presentación de Defensa del Proyecto · Versión 2 (Junio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El Costo de la Invisibilidad Operativa</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Text 2"/>
          <p:cNvSpPr/>
          <p:nvPr/>
        </p:nvSpPr>
        <p:spPr>
          <a:xfrm>
            <a:off x="731520" y="1371600"/>
            <a:ext cx="10058400" cy="4389120"/>
          </a:xfrm>
          <a:prstGeom prst="rect">
            <a:avLst/>
          </a:prstGeom>
          <a:noFill/>
          <a:ln/>
        </p:spPr>
        <p:txBody>
          <a:bodyPr wrap="square" rtlCol="0" anchor="ctr"/>
          <a:lstStyle/>
          <a:p>
            <a:pPr indent="0" marL="0">
              <a:lnSpc>
                <a:spcPts val="2200"/>
              </a:lnSpc>
              <a:buNone/>
            </a:pPr>
            <a:r>
              <a:rPr lang="en-US" sz="1600" b="1" dirty="0">
                <a:solidFill>
                  <a:srgbClr val="F43F5E"/>
                </a:solidFill>
                <a:latin typeface="Arial" pitchFamily="34" charset="0"/>
                <a:ea typeface="Arial" pitchFamily="34" charset="-122"/>
                <a:cs typeface="Arial" pitchFamily="34" charset="-120"/>
              </a:rPr>
              <a:t>• Silencios Operativos: </a:t>
            </a:r>
            <a:pPr indent="0" marL="0">
              <a:lnSpc>
                <a:spcPts val="2200"/>
              </a:lnSpc>
              <a:buNone/>
            </a:pPr>
            <a:r>
              <a:rPr lang="en-US" sz="1600" dirty="0">
                <a:solidFill>
                  <a:srgbClr val="F8FAFC"/>
                </a:solidFill>
                <a:latin typeface="Arial" pitchFamily="34" charset="0"/>
                <a:ea typeface="Arial" pitchFamily="34" charset="-122"/>
                <a:cs typeface="Arial" pitchFamily="34" charset="-120"/>
              </a:rPr>
              <a:t>Dificultad para saber en qué etapa exacta está cada Orden de Proyecto (PR) sin preguntar.
</a:t>
            </a:r>
            <a:pPr indent="0" marL="0">
              <a:lnSpc>
                <a:spcPts val="2200"/>
              </a:lnSpc>
              <a:buNone/>
            </a:pPr>
            <a:r>
              <a:rPr lang="en-US" sz="1600" b="1" dirty="0">
                <a:solidFill>
                  <a:srgbClr val="F43F5E"/>
                </a:solidFill>
                <a:latin typeface="Arial" pitchFamily="34" charset="0"/>
                <a:ea typeface="Arial" pitchFamily="34" charset="-122"/>
                <a:cs typeface="Arial" pitchFamily="34" charset="-120"/>
              </a:rPr>
              <a:t>• Falta de Trazabilidad: </a:t>
            </a:r>
            <a:pPr indent="0" marL="0">
              <a:lnSpc>
                <a:spcPts val="2200"/>
              </a:lnSpc>
              <a:buNone/>
            </a:pPr>
            <a:r>
              <a:rPr lang="en-US" sz="1600" dirty="0">
                <a:solidFill>
                  <a:srgbClr val="F8FAFC"/>
                </a:solidFill>
                <a:latin typeface="Arial" pitchFamily="34" charset="0"/>
                <a:ea typeface="Arial" pitchFamily="34" charset="-122"/>
                <a:cs typeface="Arial" pitchFamily="34" charset="-120"/>
              </a:rPr>
              <a:t>Documentos (planos, cotizaciones) sin historial claro de quién los subió o eliminó.
</a:t>
            </a:r>
            <a:pPr indent="0" marL="0">
              <a:lnSpc>
                <a:spcPts val="2200"/>
              </a:lnSpc>
              <a:buNone/>
            </a:pPr>
            <a:r>
              <a:rPr lang="en-US" sz="1600" b="1" dirty="0">
                <a:solidFill>
                  <a:srgbClr val="F43F5E"/>
                </a:solidFill>
                <a:latin typeface="Arial" pitchFamily="34" charset="0"/>
                <a:ea typeface="Arial" pitchFamily="34" charset="-122"/>
                <a:cs typeface="Arial" pitchFamily="34" charset="-120"/>
              </a:rPr>
              <a:t>• Errores Manuales: </a:t>
            </a:r>
            <a:pPr indent="0" marL="0">
              <a:lnSpc>
                <a:spcPts val="2200"/>
              </a:lnSpc>
              <a:buNone/>
            </a:pPr>
            <a:r>
              <a:rPr lang="en-US" sz="1600" dirty="0">
                <a:solidFill>
                  <a:srgbClr val="F8FAFC"/>
                </a:solidFill>
                <a:latin typeface="Arial" pitchFamily="34" charset="0"/>
                <a:ea typeface="Arial" pitchFamily="34" charset="-122"/>
                <a:cs typeface="Arial" pitchFamily="34" charset="-120"/>
              </a:rPr>
              <a:t>Transcribir metrados de Excel a mano consume horas y genera errores de digitación.
</a:t>
            </a:r>
            <a:pPr indent="0" marL="0">
              <a:lnSpc>
                <a:spcPts val="2200"/>
              </a:lnSpc>
              <a:buNone/>
            </a:pPr>
            <a:r>
              <a:rPr lang="en-US" sz="1600" b="1" dirty="0">
                <a:solidFill>
                  <a:srgbClr val="F43F5E"/>
                </a:solidFill>
                <a:latin typeface="Arial" pitchFamily="34" charset="0"/>
                <a:ea typeface="Arial" pitchFamily="34" charset="-122"/>
                <a:cs typeface="Arial" pitchFamily="34" charset="-120"/>
              </a:rPr>
              <a:t>• Descoordinación de Áreas: </a:t>
            </a:r>
            <a:pPr indent="0" marL="0">
              <a:lnSpc>
                <a:spcPts val="2200"/>
              </a:lnSpc>
              <a:buNone/>
            </a:pPr>
            <a:r>
              <a:rPr lang="en-US" sz="1600" dirty="0">
                <a:solidFill>
                  <a:srgbClr val="F8FAFC"/>
                </a:solidFill>
                <a:latin typeface="Arial" pitchFamily="34" charset="0"/>
                <a:ea typeface="Arial" pitchFamily="34" charset="-122"/>
                <a:cs typeface="Arial" pitchFamily="34" charset="-120"/>
              </a:rPr>
              <a:t>Producción inicia sin insumos completos, o Finanzas calcula pagos bajo parámetros obsoletos.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La Solución: BBTI ERP</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731520" y="1463040"/>
            <a:ext cx="4937760" cy="1737360"/>
          </a:xfrm>
          <a:prstGeom prst="roundRect">
            <a:avLst/>
          </a:prstGeom>
          <a:solidFill>
            <a:srgbClr val="255468"/>
          </a:solidFill>
          <a:ln w="12700">
            <a:solidFill>
              <a:srgbClr val="EC9D2E"/>
            </a:solidFill>
            <a:prstDash val="solid"/>
          </a:ln>
        </p:spPr>
      </p:sp>
      <p:sp>
        <p:nvSpPr>
          <p:cNvPr id="6" name="Text 3"/>
          <p:cNvSpPr/>
          <p:nvPr/>
        </p:nvSpPr>
        <p:spPr>
          <a:xfrm>
            <a:off x="1005840" y="1645920"/>
            <a:ext cx="4389120" cy="1371600"/>
          </a:xfrm>
          <a:prstGeom prst="rect">
            <a:avLst/>
          </a:prstGeom>
          <a:noFill/>
          <a:ln/>
        </p:spPr>
        <p:txBody>
          <a:bodyPr wrap="square" rtlCol="0" anchor="ctr"/>
          <a:lstStyle/>
          <a:p>
            <a:pPr indent="0" marL="0">
              <a:buNone/>
            </a:pPr>
            <a:r>
              <a:rPr lang="en-US" sz="1600" b="1" dirty="0">
                <a:solidFill>
                  <a:srgbClr val="EC9D2E"/>
                </a:solidFill>
                <a:latin typeface="Arial" pitchFamily="34" charset="0"/>
                <a:ea typeface="Arial" pitchFamily="34" charset="-122"/>
                <a:cs typeface="Arial" pitchFamily="34" charset="-120"/>
              </a:rPr>
              <a:t>1. Command Center Feed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F8FAFC"/>
                </a:solidFill>
                <a:latin typeface="Arial" pitchFamily="34" charset="0"/>
                <a:ea typeface="Arial" pitchFamily="34" charset="-122"/>
                <a:cs typeface="Arial" pitchFamily="34" charset="-120"/>
              </a:rPr>
              <a:t>Historial de actividades unificado en tiempo real con refresco automático y filtros por rol.</a:t>
            </a:r>
            <a:endParaRPr lang="en-US" sz="1600" dirty="0"/>
          </a:p>
        </p:txBody>
      </p:sp>
      <p:sp>
        <p:nvSpPr>
          <p:cNvPr id="7" name="Shape 4"/>
          <p:cNvSpPr/>
          <p:nvPr/>
        </p:nvSpPr>
        <p:spPr>
          <a:xfrm>
            <a:off x="6035040" y="1463040"/>
            <a:ext cx="4937760" cy="1737360"/>
          </a:xfrm>
          <a:prstGeom prst="roundRect">
            <a:avLst/>
          </a:prstGeom>
          <a:solidFill>
            <a:srgbClr val="255468"/>
          </a:solidFill>
          <a:ln w="12700">
            <a:solidFill>
              <a:srgbClr val="EC9D2E"/>
            </a:solidFill>
            <a:prstDash val="solid"/>
          </a:ln>
        </p:spPr>
      </p:sp>
      <p:sp>
        <p:nvSpPr>
          <p:cNvPr id="8" name="Text 5"/>
          <p:cNvSpPr/>
          <p:nvPr/>
        </p:nvSpPr>
        <p:spPr>
          <a:xfrm>
            <a:off x="6309360" y="1645920"/>
            <a:ext cx="4389120" cy="1371600"/>
          </a:xfrm>
          <a:prstGeom prst="rect">
            <a:avLst/>
          </a:prstGeom>
          <a:noFill/>
          <a:ln/>
        </p:spPr>
        <p:txBody>
          <a:bodyPr wrap="square" rtlCol="0" anchor="ctr"/>
          <a:lstStyle/>
          <a:p>
            <a:pPr indent="0" marL="0">
              <a:buNone/>
            </a:pPr>
            <a:r>
              <a:rPr lang="en-US" sz="1600" b="1" dirty="0">
                <a:solidFill>
                  <a:srgbClr val="EC9D2E"/>
                </a:solidFill>
                <a:latin typeface="Arial" pitchFamily="34" charset="0"/>
                <a:ea typeface="Arial" pitchFamily="34" charset="-122"/>
                <a:cs typeface="Arial" pitchFamily="34" charset="-120"/>
              </a:rPr>
              <a:t>2. Flujo de Firmas Secuencial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F8FAFC"/>
                </a:solidFill>
                <a:latin typeface="Arial" pitchFamily="34" charset="0"/>
                <a:ea typeface="Arial" pitchFamily="34" charset="-122"/>
                <a:cs typeface="Arial" pitchFamily="34" charset="-120"/>
              </a:rPr>
              <a:t>Rigor operativo: cada área debe firmar su etapa antes de que el proyecto pueda avanzar.</a:t>
            </a:r>
            <a:endParaRPr lang="en-US" sz="1600" dirty="0"/>
          </a:p>
        </p:txBody>
      </p:sp>
      <p:sp>
        <p:nvSpPr>
          <p:cNvPr id="9" name="Shape 6"/>
          <p:cNvSpPr/>
          <p:nvPr/>
        </p:nvSpPr>
        <p:spPr>
          <a:xfrm>
            <a:off x="731520" y="3474720"/>
            <a:ext cx="4937760" cy="1737360"/>
          </a:xfrm>
          <a:prstGeom prst="roundRect">
            <a:avLst/>
          </a:prstGeom>
          <a:solidFill>
            <a:srgbClr val="255468"/>
          </a:solidFill>
          <a:ln w="12700">
            <a:solidFill>
              <a:srgbClr val="EC9D2E"/>
            </a:solidFill>
            <a:prstDash val="solid"/>
          </a:ln>
        </p:spPr>
      </p:sp>
      <p:sp>
        <p:nvSpPr>
          <p:cNvPr id="10" name="Text 7"/>
          <p:cNvSpPr/>
          <p:nvPr/>
        </p:nvSpPr>
        <p:spPr>
          <a:xfrm>
            <a:off x="1005840" y="3657600"/>
            <a:ext cx="4389120" cy="1371600"/>
          </a:xfrm>
          <a:prstGeom prst="rect">
            <a:avLst/>
          </a:prstGeom>
          <a:noFill/>
          <a:ln/>
        </p:spPr>
        <p:txBody>
          <a:bodyPr wrap="square" rtlCol="0" anchor="ctr"/>
          <a:lstStyle/>
          <a:p>
            <a:pPr indent="0" marL="0">
              <a:buNone/>
            </a:pPr>
            <a:r>
              <a:rPr lang="en-US" sz="1600" b="1" dirty="0">
                <a:solidFill>
                  <a:srgbClr val="EC9D2E"/>
                </a:solidFill>
                <a:latin typeface="Arial" pitchFamily="34" charset="0"/>
                <a:ea typeface="Arial" pitchFamily="34" charset="-122"/>
                <a:cs typeface="Arial" pitchFamily="34" charset="-120"/>
              </a:rPr>
              <a:t>3. Importación Inteligente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F8FAFC"/>
                </a:solidFill>
                <a:latin typeface="Arial" pitchFamily="34" charset="0"/>
                <a:ea typeface="Arial" pitchFamily="34" charset="-122"/>
                <a:cs typeface="Arial" pitchFamily="34" charset="-120"/>
              </a:rPr>
              <a:t>Carga inmediata de planillas de metrados de Excel, convirtiéndolas en materiales de Logística.</a:t>
            </a:r>
            <a:endParaRPr lang="en-US" sz="1600" dirty="0"/>
          </a:p>
        </p:txBody>
      </p:sp>
      <p:sp>
        <p:nvSpPr>
          <p:cNvPr id="11" name="Shape 8"/>
          <p:cNvSpPr/>
          <p:nvPr/>
        </p:nvSpPr>
        <p:spPr>
          <a:xfrm>
            <a:off x="6035040" y="3474720"/>
            <a:ext cx="4937760" cy="1737360"/>
          </a:xfrm>
          <a:prstGeom prst="roundRect">
            <a:avLst/>
          </a:prstGeom>
          <a:solidFill>
            <a:srgbClr val="255468"/>
          </a:solidFill>
          <a:ln w="12700">
            <a:solidFill>
              <a:srgbClr val="EC9D2E"/>
            </a:solidFill>
            <a:prstDash val="solid"/>
          </a:ln>
        </p:spPr>
      </p:sp>
      <p:sp>
        <p:nvSpPr>
          <p:cNvPr id="12" name="Text 9"/>
          <p:cNvSpPr/>
          <p:nvPr/>
        </p:nvSpPr>
        <p:spPr>
          <a:xfrm>
            <a:off x="6309360" y="3657600"/>
            <a:ext cx="4389120" cy="1371600"/>
          </a:xfrm>
          <a:prstGeom prst="rect">
            <a:avLst/>
          </a:prstGeom>
          <a:noFill/>
          <a:ln/>
        </p:spPr>
        <p:txBody>
          <a:bodyPr wrap="square" rtlCol="0" anchor="ctr"/>
          <a:lstStyle/>
          <a:p>
            <a:pPr indent="0" marL="0">
              <a:buNone/>
            </a:pPr>
            <a:r>
              <a:rPr lang="en-US" sz="1600" b="1" dirty="0">
                <a:solidFill>
                  <a:srgbClr val="EC9D2E"/>
                </a:solidFill>
                <a:latin typeface="Arial" pitchFamily="34" charset="0"/>
                <a:ea typeface="Arial" pitchFamily="34" charset="-122"/>
                <a:cs typeface="Arial" pitchFamily="34" charset="-120"/>
              </a:rPr>
              <a:t>4. Parámetros Flexibles
</a:t>
            </a:r>
            <a:pPr indent="0" marL="0">
              <a:buNone/>
            </a:pPr>
            <a:r>
              <a:rPr lang="en-US" sz="600" dirty="0">
                <a:solidFill>
                  <a:srgbClr val="000000"/>
                </a:solidFill>
                <a:latin typeface="Arial" pitchFamily="34" charset="0"/>
                <a:ea typeface="Arial" pitchFamily="34" charset="-122"/>
                <a:cs typeface="Arial" pitchFamily="34" charset="-120"/>
              </a:rPr>
              <a:t>
</a:t>
            </a:r>
            <a:pPr indent="0" marL="0">
              <a:buNone/>
            </a:pPr>
            <a:r>
              <a:rPr lang="en-US" sz="1300" dirty="0">
                <a:solidFill>
                  <a:srgbClr val="F8FAFC"/>
                </a:solidFill>
                <a:latin typeface="Arial" pitchFamily="34" charset="0"/>
                <a:ea typeface="Arial" pitchFamily="34" charset="-122"/>
                <a:cs typeface="Arial" pitchFamily="34" charset="-120"/>
              </a:rPr>
              <a:t>Moneda (S/ o USD) e IGV configurables globalmente y aplicados a todos los módulos.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Superpoder 1: Command Center Feed (Actividad en Vivo)</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Text 2"/>
          <p:cNvSpPr/>
          <p:nvPr/>
        </p:nvSpPr>
        <p:spPr>
          <a:xfrm>
            <a:off x="731520" y="1371600"/>
            <a:ext cx="10058400" cy="4389120"/>
          </a:xfrm>
          <a:prstGeom prst="rect">
            <a:avLst/>
          </a:prstGeom>
          <a:noFill/>
          <a:ln/>
        </p:spPr>
        <p:txBody>
          <a:bodyPr wrap="square" rtlCol="0" anchor="ctr"/>
          <a:lstStyle/>
          <a:p>
            <a:pPr indent="0" marL="0">
              <a:lnSpc>
                <a:spcPts val="1800"/>
              </a:lnSpc>
              <a:buNone/>
            </a:pPr>
            <a:r>
              <a:rPr lang="en-US" sz="1500" b="1" dirty="0">
                <a:solidFill>
                  <a:srgbClr val="EC9D2E"/>
                </a:solidFill>
                <a:latin typeface="Arial" pitchFamily="34" charset="0"/>
                <a:ea typeface="Arial" pitchFamily="34" charset="-122"/>
                <a:cs typeface="Arial" pitchFamily="34" charset="-120"/>
              </a:rPr>
              <a:t>• Visibilidad Operativa 360°: </a:t>
            </a:r>
            <a:pPr indent="0" marL="0">
              <a:lnSpc>
                <a:spcPts val="1800"/>
              </a:lnSpc>
              <a:buNone/>
            </a:pPr>
            <a:r>
              <a:rPr lang="en-US" sz="1500" dirty="0">
                <a:solidFill>
                  <a:srgbClr val="F8FAFC"/>
                </a:solidFill>
                <a:latin typeface="Arial" pitchFamily="34" charset="0"/>
                <a:ea typeface="Arial" pitchFamily="34" charset="-122"/>
                <a:cs typeface="Arial" pitchFamily="34" charset="-120"/>
              </a:rPr>
              <a:t>Monitoreo dinámico del avance del taller en una única pantalla de inicio.
</a:t>
            </a:r>
            <a:pPr indent="0" marL="0">
              <a:lnSpc>
                <a:spcPts val="1800"/>
              </a:lnSpc>
              <a:buNone/>
            </a:pPr>
            <a:r>
              <a:rPr lang="en-US" sz="1500" b="1" dirty="0">
                <a:solidFill>
                  <a:srgbClr val="F8FAFC"/>
                </a:solidFill>
                <a:latin typeface="Arial" pitchFamily="34" charset="0"/>
                <a:ea typeface="Arial" pitchFamily="34" charset="-122"/>
                <a:cs typeface="Arial" pitchFamily="34" charset="-120"/>
              </a:rPr>
              <a:t>• Ejemplos del Feed de Trazabilidad Real: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"José Flores (Comercial) importó metrado de Excel para PR-03 (S/ 120,000)"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"Giancarlos Oscco (Ingeniería) aprobó planos para PR-02"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"Carlos Ramírez (Logística) completó la compra de materiales para PR-02"
</a:t>
            </a:r>
            <a:pPr indent="0" marL="0">
              <a:lnSpc>
                <a:spcPts val="1800"/>
              </a:lnSpc>
              <a:buNone/>
            </a:pPr>
            <a:r>
              <a:rPr lang="en-US" sz="1500" b="1" dirty="0">
                <a:solidFill>
                  <a:srgbClr val="EC9D2E"/>
                </a:solidFill>
                <a:latin typeface="Arial" pitchFamily="34" charset="0"/>
                <a:ea typeface="Arial" pitchFamily="34" charset="-122"/>
                <a:cs typeface="Arial" pitchFamily="34" charset="-120"/>
              </a:rPr>
              <a:t>• Control y Tiempos Reales: </a:t>
            </a:r>
            <a:pPr indent="0" marL="0">
              <a:lnSpc>
                <a:spcPts val="1800"/>
              </a:lnSpc>
              <a:buNone/>
            </a:pPr>
            <a:r>
              <a:rPr lang="en-US" sz="1500" dirty="0">
                <a:solidFill>
                  <a:srgbClr val="F8FAFC"/>
                </a:solidFill>
                <a:latin typeface="Arial" pitchFamily="34" charset="0"/>
                <a:ea typeface="Arial" pitchFamily="34" charset="-122"/>
                <a:cs typeface="Arial" pitchFamily="34" charset="-120"/>
              </a:rPr>
              <a:t>Sincronización automatizada cada 10 segundos, con tags de proyecto clicables y búsquedas cruzadas por usuario, cliente o acción.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Superpoder 2: Flujo de Firmas y Sign-off Secuencial</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Text 2"/>
          <p:cNvSpPr/>
          <p:nvPr/>
        </p:nvSpPr>
        <p:spPr>
          <a:xfrm>
            <a:off x="731520" y="1371600"/>
            <a:ext cx="10058400" cy="4389120"/>
          </a:xfrm>
          <a:prstGeom prst="rect">
            <a:avLst/>
          </a:prstGeom>
          <a:noFill/>
          <a:ln/>
        </p:spPr>
        <p:txBody>
          <a:bodyPr wrap="square" rtlCol="0" anchor="ctr"/>
          <a:lstStyle/>
          <a:p>
            <a:pPr indent="0" marL="0">
              <a:lnSpc>
                <a:spcPts val="1800"/>
              </a:lnSpc>
              <a:buNone/>
            </a:pPr>
            <a:r>
              <a:rPr lang="en-US" sz="1500" b="1" dirty="0">
                <a:solidFill>
                  <a:srgbClr val="EC9D2E"/>
                </a:solidFill>
                <a:latin typeface="Arial" pitchFamily="34" charset="0"/>
                <a:ea typeface="Arial" pitchFamily="34" charset="-122"/>
                <a:cs typeface="Arial" pitchFamily="34" charset="-120"/>
              </a:rPr>
              <a:t>• Disciplina Operativa (Cero Saltos): </a:t>
            </a:r>
            <a:pPr indent="0" marL="0">
              <a:lnSpc>
                <a:spcPts val="1800"/>
              </a:lnSpc>
              <a:buNone/>
            </a:pPr>
            <a:r>
              <a:rPr lang="en-US" sz="1500" dirty="0">
                <a:solidFill>
                  <a:srgbClr val="F8FAFC"/>
                </a:solidFill>
                <a:latin typeface="Arial" pitchFamily="34" charset="0"/>
                <a:ea typeface="Arial" pitchFamily="34" charset="-122"/>
                <a:cs typeface="Arial" pitchFamily="34" charset="-120"/>
              </a:rPr>
              <a:t>El flujo de fabricación sigue una secuencia obligatoria bloqueante.
</a:t>
            </a:r>
            <a:pPr indent="0" marL="0">
              <a:lnSpc>
                <a:spcPts val="1800"/>
              </a:lnSpc>
              <a:buNone/>
            </a:pPr>
            <a:r>
              <a:rPr lang="en-US" sz="1500" b="1" dirty="0">
                <a:solidFill>
                  <a:srgbClr val="F8FAFC"/>
                </a:solidFill>
                <a:latin typeface="Arial" pitchFamily="34" charset="0"/>
                <a:ea typeface="Arial" pitchFamily="34" charset="-122"/>
                <a:cs typeface="Arial" pitchFamily="34" charset="-120"/>
              </a:rPr>
              <a:t>• Hitos del Tablero de Firmas: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- 1. Ingeniería: Requiere planos marcados como "Aprobados y firmados" en el sistema.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- 2. Logística: Requiere el 100% de materiales comprados (Completados).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- 3. Producción: Requiere todas las etapas de fabricación al 100%.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- 4. Pruebas y Envío: Habilitan la entrega del proyecto.
</a:t>
            </a:r>
            <a:pPr indent="0" marL="0">
              <a:lnSpc>
                <a:spcPts val="1800"/>
              </a:lnSpc>
              <a:buNone/>
            </a:pPr>
            <a:r>
              <a:rPr lang="en-US" sz="1500" b="1" dirty="0">
                <a:solidFill>
                  <a:srgbClr val="EC9D2E"/>
                </a:solidFill>
                <a:latin typeface="Arial" pitchFamily="34" charset="0"/>
                <a:ea typeface="Arial" pitchFamily="34" charset="-122"/>
                <a:cs typeface="Arial" pitchFamily="34" charset="-120"/>
              </a:rPr>
              <a:t>• Seguridad Reversible (Cascada): </a:t>
            </a:r>
            <a:pPr indent="0" marL="0">
              <a:lnSpc>
                <a:spcPts val="1800"/>
              </a:lnSpc>
              <a:buNone/>
            </a:pPr>
            <a:r>
              <a:rPr lang="en-US" sz="1500" dirty="0">
                <a:solidFill>
                  <a:srgbClr val="F8FAFC"/>
                </a:solidFill>
                <a:latin typeface="Arial" pitchFamily="34" charset="0"/>
                <a:ea typeface="Arial" pitchFamily="34" charset="-122"/>
                <a:cs typeface="Arial" pitchFamily="34" charset="-120"/>
              </a:rPr>
              <a:t>Si un área necesita corregir o deshacer su firma previa, el sistema revoca automáticamente por seguridad todas las autorizaciones posteriores.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Superpoder 3: Automatización de Metrados (Excel Import)</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Text 2"/>
          <p:cNvSpPr/>
          <p:nvPr/>
        </p:nvSpPr>
        <p:spPr>
          <a:xfrm>
            <a:off x="731520" y="1371600"/>
            <a:ext cx="10058400" cy="4389120"/>
          </a:xfrm>
          <a:prstGeom prst="rect">
            <a:avLst/>
          </a:prstGeom>
          <a:noFill/>
          <a:ln/>
        </p:spPr>
        <p:txBody>
          <a:bodyPr wrap="square" rtlCol="0" anchor="ctr"/>
          <a:lstStyle/>
          <a:p>
            <a:pPr indent="0" marL="0">
              <a:lnSpc>
                <a:spcPts val="1800"/>
              </a:lnSpc>
              <a:buNone/>
            </a:pPr>
            <a:r>
              <a:rPr lang="en-US" sz="1500" b="1" dirty="0">
                <a:solidFill>
                  <a:srgbClr val="EC9D2E"/>
                </a:solidFill>
                <a:latin typeface="Arial" pitchFamily="34" charset="0"/>
                <a:ea typeface="Arial" pitchFamily="34" charset="-122"/>
                <a:cs typeface="Arial" pitchFamily="34" charset="-120"/>
              </a:rPr>
              <a:t>• Carga Rápida sin Intervención Manual: </a:t>
            </a:r>
            <a:pPr indent="0" marL="0">
              <a:lnSpc>
                <a:spcPts val="1800"/>
              </a:lnSpc>
              <a:buNone/>
            </a:pPr>
            <a:r>
              <a:rPr lang="en-US" sz="1500" dirty="0">
                <a:solidFill>
                  <a:srgbClr val="F8FAFC"/>
                </a:solidFill>
                <a:latin typeface="Arial" pitchFamily="34" charset="0"/>
                <a:ea typeface="Arial" pitchFamily="34" charset="-122"/>
                <a:cs typeface="Arial" pitchFamily="34" charset="-120"/>
              </a:rPr>
              <a:t>Comercial sube el archivo de metrado generado directamente de las cotizaciones.
</a:t>
            </a:r>
            <a:pPr indent="0" marL="0">
              <a:lnSpc>
                <a:spcPts val="1800"/>
              </a:lnSpc>
              <a:buNone/>
            </a:pPr>
            <a:r>
              <a:rPr lang="en-US" sz="1500" b="1" dirty="0">
                <a:solidFill>
                  <a:srgbClr val="EC9D2E"/>
                </a:solidFill>
                <a:latin typeface="Arial" pitchFamily="34" charset="0"/>
                <a:ea typeface="Arial" pitchFamily="34" charset="-122"/>
                <a:cs typeface="Arial" pitchFamily="34" charset="-120"/>
              </a:rPr>
              <a:t>• Extracción de Datos en Segundos: </a:t>
            </a:r>
            <a:pPr indent="0" marL="0">
              <a:lnSpc>
                <a:spcPts val="1800"/>
              </a:lnSpc>
              <a:buNone/>
            </a:pPr>
            <a:r>
              <a:rPr lang="en-US" sz="1500" dirty="0">
                <a:solidFill>
                  <a:srgbClr val="F8FAFC"/>
                </a:solidFill>
                <a:latin typeface="Arial" pitchFamily="34" charset="0"/>
                <a:ea typeface="Arial" pitchFamily="34" charset="-122"/>
                <a:cs typeface="Arial" pitchFamily="34" charset="-120"/>
              </a:rPr>
              <a:t>El parser inteligente procesa la planilla, filtrando tableros y detectando: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Códigos de componentes de fabricantes (ej: ABB, Schneider).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Unidades de medida (und, metros, kg).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Cantidades requeridas y precios unitarios históricos.
</a:t>
            </a:r>
            <a:pPr indent="0" marL="0">
              <a:lnSpc>
                <a:spcPts val="1800"/>
              </a:lnSpc>
              <a:buNone/>
            </a:pPr>
            <a:r>
              <a:rPr lang="en-US" sz="1500" b="1" dirty="0">
                <a:solidFill>
                  <a:srgbClr val="EC9D2E"/>
                </a:solidFill>
                <a:latin typeface="Arial" pitchFamily="34" charset="0"/>
                <a:ea typeface="Arial" pitchFamily="34" charset="-122"/>
                <a:cs typeface="Arial" pitchFamily="34" charset="-120"/>
              </a:rPr>
              <a:t>• Conexión Inmediata con Abastecimiento: </a:t>
            </a:r>
            <a:pPr indent="0" marL="0">
              <a:lnSpc>
                <a:spcPts val="1800"/>
              </a:lnSpc>
              <a:buNone/>
            </a:pPr>
            <a:r>
              <a:rPr lang="en-US" sz="1500" dirty="0">
                <a:solidFill>
                  <a:srgbClr val="F8FAFC"/>
                </a:solidFill>
                <a:latin typeface="Arial" pitchFamily="34" charset="0"/>
                <a:ea typeface="Arial" pitchFamily="34" charset="-122"/>
                <a:cs typeface="Arial" pitchFamily="34" charset="-120"/>
              </a:rPr>
              <a:t>Crea más de 70 ítems listos para comprar, eliminando el traspaso manual y previniendo errores de digitación en las órdenes de compra.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Parámetros Flexibles y Privacidad Financiera</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Text 2"/>
          <p:cNvSpPr/>
          <p:nvPr/>
        </p:nvSpPr>
        <p:spPr>
          <a:xfrm>
            <a:off x="731520" y="1371600"/>
            <a:ext cx="10058400" cy="4389120"/>
          </a:xfrm>
          <a:prstGeom prst="rect">
            <a:avLst/>
          </a:prstGeom>
          <a:noFill/>
          <a:ln/>
        </p:spPr>
        <p:txBody>
          <a:bodyPr wrap="square" rtlCol="0" anchor="ctr"/>
          <a:lstStyle/>
          <a:p>
            <a:pPr indent="0" marL="0">
              <a:lnSpc>
                <a:spcPts val="1800"/>
              </a:lnSpc>
              <a:buNone/>
            </a:pPr>
            <a:r>
              <a:rPr lang="en-US" sz="1500" b="1" dirty="0">
                <a:solidFill>
                  <a:srgbClr val="EC9D2E"/>
                </a:solidFill>
                <a:latin typeface="Arial" pitchFamily="34" charset="0"/>
                <a:ea typeface="Arial" pitchFamily="34" charset="-122"/>
                <a:cs typeface="Arial" pitchFamily="34" charset="-120"/>
              </a:rPr>
              <a:t>• Configuración Unificada de Empresa: </a:t>
            </a:r>
            <a:pPr indent="0" marL="0">
              <a:lnSpc>
                <a:spcPts val="1800"/>
              </a:lnSpc>
              <a:buNone/>
            </a:pPr>
            <a:r>
              <a:rPr lang="en-US" sz="1500" dirty="0">
                <a:solidFill>
                  <a:srgbClr val="F8FAFC"/>
                </a:solidFill>
                <a:latin typeface="Arial" pitchFamily="34" charset="0"/>
                <a:ea typeface="Arial" pitchFamily="34" charset="-122"/>
                <a:cs typeface="Arial" pitchFamily="34" charset="-120"/>
              </a:rPr>
              <a:t>Permite a Administración cambiar en caliente los parámetros del negocio.
</a:t>
            </a:r>
            <a:pPr indent="0" marL="0">
              <a:lnSpc>
                <a:spcPts val="1800"/>
              </a:lnSpc>
              <a:buNone/>
            </a:pPr>
            <a:r>
              <a:rPr lang="en-US" sz="1500" b="1" dirty="0">
                <a:solidFill>
                  <a:srgbClr val="F8FAFC"/>
                </a:solidFill>
                <a:latin typeface="Arial" pitchFamily="34" charset="0"/>
                <a:ea typeface="Arial" pitchFamily="34" charset="-122"/>
                <a:cs typeface="Arial" pitchFamily="34" charset="-120"/>
              </a:rPr>
              <a:t>• Desglose y Formateo Automático: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Soporte multi-moneda instantáneo (Soles y Dólares) a nivel global en todos los formularios y vistas.
</a:t>
            </a:r>
            <a:pPr indent="0" marL="0">
              <a:lnSpc>
                <a:spcPts val="1800"/>
              </a:lnSpc>
              <a:buNone/>
            </a:pPr>
            <a:r>
              <a:rPr lang="en-US" sz="1500" dirty="0">
                <a:solidFill>
                  <a:srgbClr val="94A3B8"/>
                </a:solidFill>
                <a:latin typeface="Arial" pitchFamily="34" charset="0"/>
                <a:ea typeface="Arial" pitchFamily="34" charset="-122"/>
                <a:cs typeface="Arial" pitchFamily="34" charset="-120"/>
              </a:rPr>
              <a:t>  - Cálculo dinámico de IGV en la pestaña de Finanzas (desglose de Subtotal e impuesto a partir del monto total del contrato).
</a:t>
            </a:r>
            <a:pPr indent="0" marL="0">
              <a:lnSpc>
                <a:spcPts val="1800"/>
              </a:lnSpc>
              <a:buNone/>
            </a:pPr>
            <a:r>
              <a:rPr lang="en-US" sz="1500" b="1" dirty="0">
                <a:solidFill>
                  <a:srgbClr val="EC9D2E"/>
                </a:solidFill>
                <a:latin typeface="Arial" pitchFamily="34" charset="0"/>
                <a:ea typeface="Arial" pitchFamily="34" charset="-122"/>
                <a:cs typeface="Arial" pitchFamily="34" charset="-120"/>
              </a:rPr>
              <a:t>• Privacidad de Datos y RLS (Row-Level Security): </a:t>
            </a:r>
            <a:pPr indent="0" marL="0">
              <a:lnSpc>
                <a:spcPts val="1800"/>
              </a:lnSpc>
              <a:buNone/>
            </a:pPr>
            <a:r>
              <a:rPr lang="en-US" sz="1500" dirty="0">
                <a:solidFill>
                  <a:srgbClr val="F8FAFC"/>
                </a:solidFill>
                <a:latin typeface="Arial" pitchFamily="34" charset="0"/>
                <a:ea typeface="Arial" pitchFamily="34" charset="-122"/>
                <a:cs typeface="Arial" pitchFamily="34" charset="-120"/>
              </a:rPr>
              <a:t>Los presupuestos y estados de pago están encriptados y ocultos para roles no-financieros (Ingeniería y Producción), resguardando la confidencialidad de la información comercial de la planta.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Resultados del Negocio y Retorno de Inversión</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1463040" y="1463040"/>
            <a:ext cx="1645920" cy="1645920"/>
          </a:xfrm>
          <a:prstGeom prst="ellipse">
            <a:avLst/>
          </a:prstGeom>
          <a:solidFill>
            <a:srgbClr val="255468"/>
          </a:solidFill>
          <a:ln w="25400">
            <a:solidFill>
              <a:srgbClr val="EC9D2E"/>
            </a:solidFill>
            <a:prstDash val="solid"/>
          </a:ln>
        </p:spPr>
      </p:sp>
      <p:sp>
        <p:nvSpPr>
          <p:cNvPr id="6" name="Text 3"/>
          <p:cNvSpPr/>
          <p:nvPr/>
        </p:nvSpPr>
        <p:spPr>
          <a:xfrm>
            <a:off x="1005840" y="1920240"/>
            <a:ext cx="2560320" cy="731520"/>
          </a:xfrm>
          <a:prstGeom prst="rect">
            <a:avLst/>
          </a:prstGeom>
          <a:noFill/>
          <a:ln/>
        </p:spPr>
        <p:txBody>
          <a:bodyPr wrap="square" rtlCol="0" anchor="ctr"/>
          <a:lstStyle/>
          <a:p>
            <a:pPr algn="ctr" indent="0" marL="0">
              <a:buNone/>
            </a:pPr>
            <a:r>
              <a:rPr lang="en-US" sz="3200" b="1" dirty="0">
                <a:solidFill>
                  <a:srgbClr val="EC9D2E"/>
                </a:solidFill>
                <a:latin typeface="Trebuchet MS" pitchFamily="34" charset="0"/>
                <a:ea typeface="Trebuchet MS" pitchFamily="34" charset="-122"/>
                <a:cs typeface="Trebuchet MS" pitchFamily="34" charset="-120"/>
              </a:rPr>
              <a:t>95%</a:t>
            </a:r>
            <a:endParaRPr lang="en-US" sz="3200" dirty="0"/>
          </a:p>
        </p:txBody>
      </p:sp>
      <p:sp>
        <p:nvSpPr>
          <p:cNvPr id="7" name="Text 4"/>
          <p:cNvSpPr/>
          <p:nvPr/>
        </p:nvSpPr>
        <p:spPr>
          <a:xfrm>
            <a:off x="731520" y="3383280"/>
            <a:ext cx="3108960" cy="1097280"/>
          </a:xfrm>
          <a:prstGeom prst="rect">
            <a:avLst/>
          </a:prstGeom>
          <a:noFill/>
          <a:ln/>
        </p:spPr>
        <p:txBody>
          <a:bodyPr wrap="square" rtlCol="0" anchor="ctr"/>
          <a:lstStyle/>
          <a:p>
            <a:pPr algn="ctr" indent="0" marL="0">
              <a:buNone/>
            </a:pPr>
            <a:r>
              <a:rPr lang="en-US" sz="1400" dirty="0">
                <a:solidFill>
                  <a:srgbClr val="F8FAFC"/>
                </a:solidFill>
                <a:latin typeface="Arial" pitchFamily="34" charset="0"/>
                <a:ea typeface="Arial" pitchFamily="34" charset="-122"/>
                <a:cs typeface="Arial" pitchFamily="34" charset="-120"/>
              </a:rPr>
              <a:t>Menos errores en pedidos de materiales a Logística</a:t>
            </a:r>
            <a:endParaRPr lang="en-US" sz="1400" dirty="0"/>
          </a:p>
        </p:txBody>
      </p:sp>
      <p:sp>
        <p:nvSpPr>
          <p:cNvPr id="8" name="Shape 5"/>
          <p:cNvSpPr/>
          <p:nvPr/>
        </p:nvSpPr>
        <p:spPr>
          <a:xfrm>
            <a:off x="4937760" y="1463040"/>
            <a:ext cx="1645920" cy="1645920"/>
          </a:xfrm>
          <a:prstGeom prst="ellipse">
            <a:avLst/>
          </a:prstGeom>
          <a:solidFill>
            <a:srgbClr val="255468"/>
          </a:solidFill>
          <a:ln w="25400">
            <a:solidFill>
              <a:srgbClr val="EC9D2E"/>
            </a:solidFill>
            <a:prstDash val="solid"/>
          </a:ln>
        </p:spPr>
      </p:sp>
      <p:sp>
        <p:nvSpPr>
          <p:cNvPr id="9" name="Text 6"/>
          <p:cNvSpPr/>
          <p:nvPr/>
        </p:nvSpPr>
        <p:spPr>
          <a:xfrm>
            <a:off x="4480560" y="1920240"/>
            <a:ext cx="2560320" cy="731520"/>
          </a:xfrm>
          <a:prstGeom prst="rect">
            <a:avLst/>
          </a:prstGeom>
          <a:noFill/>
          <a:ln/>
        </p:spPr>
        <p:txBody>
          <a:bodyPr wrap="square" rtlCol="0" anchor="ctr"/>
          <a:lstStyle/>
          <a:p>
            <a:pPr algn="ctr" indent="0" marL="0">
              <a:buNone/>
            </a:pPr>
            <a:r>
              <a:rPr lang="en-US" sz="3200" b="1" dirty="0">
                <a:solidFill>
                  <a:srgbClr val="EC9D2E"/>
                </a:solidFill>
                <a:latin typeface="Trebuchet MS" pitchFamily="34" charset="0"/>
                <a:ea typeface="Trebuchet MS" pitchFamily="34" charset="-122"/>
                <a:cs typeface="Trebuchet MS" pitchFamily="34" charset="-120"/>
              </a:rPr>
              <a:t>90%</a:t>
            </a:r>
            <a:endParaRPr lang="en-US" sz="3200" dirty="0"/>
          </a:p>
        </p:txBody>
      </p:sp>
      <p:sp>
        <p:nvSpPr>
          <p:cNvPr id="10" name="Text 7"/>
          <p:cNvSpPr/>
          <p:nvPr/>
        </p:nvSpPr>
        <p:spPr>
          <a:xfrm>
            <a:off x="4206240" y="3383280"/>
            <a:ext cx="3108960" cy="1097280"/>
          </a:xfrm>
          <a:prstGeom prst="rect">
            <a:avLst/>
          </a:prstGeom>
          <a:noFill/>
          <a:ln/>
        </p:spPr>
        <p:txBody>
          <a:bodyPr wrap="square" rtlCol="0" anchor="ctr"/>
          <a:lstStyle/>
          <a:p>
            <a:pPr algn="ctr" indent="0" marL="0">
              <a:buNone/>
            </a:pPr>
            <a:r>
              <a:rPr lang="en-US" sz="1400" dirty="0">
                <a:solidFill>
                  <a:srgbClr val="F8FAFC"/>
                </a:solidFill>
                <a:latin typeface="Arial" pitchFamily="34" charset="0"/>
                <a:ea typeface="Arial" pitchFamily="34" charset="-122"/>
                <a:cs typeface="Arial" pitchFamily="34" charset="-120"/>
              </a:rPr>
              <a:t>Ahorro de tiempo en carga e inicialización de proyectos</a:t>
            </a:r>
            <a:endParaRPr lang="en-US" sz="1400" dirty="0"/>
          </a:p>
        </p:txBody>
      </p:sp>
      <p:sp>
        <p:nvSpPr>
          <p:cNvPr id="11" name="Shape 8"/>
          <p:cNvSpPr/>
          <p:nvPr/>
        </p:nvSpPr>
        <p:spPr>
          <a:xfrm>
            <a:off x="8412480" y="1463040"/>
            <a:ext cx="1645920" cy="1645920"/>
          </a:xfrm>
          <a:prstGeom prst="ellipse">
            <a:avLst/>
          </a:prstGeom>
          <a:solidFill>
            <a:srgbClr val="255468"/>
          </a:solidFill>
          <a:ln w="25400">
            <a:solidFill>
              <a:srgbClr val="EC9D2E"/>
            </a:solidFill>
            <a:prstDash val="solid"/>
          </a:ln>
        </p:spPr>
      </p:sp>
      <p:sp>
        <p:nvSpPr>
          <p:cNvPr id="12" name="Text 9"/>
          <p:cNvSpPr/>
          <p:nvPr/>
        </p:nvSpPr>
        <p:spPr>
          <a:xfrm>
            <a:off x="7955280" y="1920240"/>
            <a:ext cx="2560320" cy="731520"/>
          </a:xfrm>
          <a:prstGeom prst="rect">
            <a:avLst/>
          </a:prstGeom>
          <a:noFill/>
          <a:ln/>
        </p:spPr>
        <p:txBody>
          <a:bodyPr wrap="square" rtlCol="0" anchor="ctr"/>
          <a:lstStyle/>
          <a:p>
            <a:pPr algn="ctr" indent="0" marL="0">
              <a:buNone/>
            </a:pPr>
            <a:r>
              <a:rPr lang="en-US" sz="3200" b="1" dirty="0">
                <a:solidFill>
                  <a:srgbClr val="EC9D2E"/>
                </a:solidFill>
                <a:latin typeface="Trebuchet MS" pitchFamily="34" charset="0"/>
                <a:ea typeface="Trebuchet MS" pitchFamily="34" charset="-122"/>
                <a:cs typeface="Trebuchet MS" pitchFamily="34" charset="-120"/>
              </a:rPr>
              <a:t>100%</a:t>
            </a:r>
            <a:endParaRPr lang="en-US" sz="3200" dirty="0"/>
          </a:p>
        </p:txBody>
      </p:sp>
      <p:sp>
        <p:nvSpPr>
          <p:cNvPr id="13" name="Text 10"/>
          <p:cNvSpPr/>
          <p:nvPr/>
        </p:nvSpPr>
        <p:spPr>
          <a:xfrm>
            <a:off x="7680960" y="3383280"/>
            <a:ext cx="3108960" cy="1097280"/>
          </a:xfrm>
          <a:prstGeom prst="rect">
            <a:avLst/>
          </a:prstGeom>
          <a:noFill/>
          <a:ln/>
        </p:spPr>
        <p:txBody>
          <a:bodyPr wrap="square" rtlCol="0" anchor="ctr"/>
          <a:lstStyle/>
          <a:p>
            <a:pPr algn="ctr" indent="0" marL="0">
              <a:buNone/>
            </a:pPr>
            <a:r>
              <a:rPr lang="en-US" sz="1400" dirty="0">
                <a:solidFill>
                  <a:srgbClr val="F8FAFC"/>
                </a:solidFill>
                <a:latin typeface="Arial" pitchFamily="34" charset="0"/>
                <a:ea typeface="Arial" pitchFamily="34" charset="-122"/>
                <a:cs typeface="Arial" pitchFamily="34" charset="-120"/>
              </a:rPr>
              <a:t>Trazabilidad de auditoría de documentos y firmas</a:t>
            </a:r>
            <a:endParaRPr lang="en-US" sz="1400" dirty="0"/>
          </a:p>
        </p:txBody>
      </p:sp>
      <p:sp>
        <p:nvSpPr>
          <p:cNvPr id="14" name="Text 11"/>
          <p:cNvSpPr/>
          <p:nvPr/>
        </p:nvSpPr>
        <p:spPr>
          <a:xfrm>
            <a:off x="731520" y="4754880"/>
            <a:ext cx="10058400" cy="457200"/>
          </a:xfrm>
          <a:prstGeom prst="rect">
            <a:avLst/>
          </a:prstGeom>
          <a:noFill/>
          <a:ln/>
        </p:spPr>
        <p:txBody>
          <a:bodyPr wrap="square" rtlCol="0" anchor="ctr"/>
          <a:lstStyle/>
          <a:p>
            <a:pPr algn="ctr" indent="0" marL="0">
              <a:buNone/>
            </a:pPr>
            <a:r>
              <a:rPr lang="en-US" sz="1400" b="1" dirty="0">
                <a:solidFill>
                  <a:srgbClr val="EC9D2E"/>
                </a:solidFill>
                <a:latin typeface="Arial" pitchFamily="34" charset="0"/>
                <a:ea typeface="Arial" pitchFamily="34" charset="-122"/>
                <a:cs typeface="Arial" pitchFamily="34" charset="-120"/>
              </a:rPr>
              <a:t>➔ Mayor control de planta · ➔ Alertas que se adelantan a los retrasos · ➔ Decisiones basadas en datos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914400" y="2011680"/>
            <a:ext cx="10332720" cy="914400"/>
          </a:xfrm>
          <a:prstGeom prst="rect">
            <a:avLst/>
          </a:prstGeom>
          <a:noFill/>
          <a:ln/>
        </p:spPr>
        <p:txBody>
          <a:bodyPr wrap="square" rtlCol="0" anchor="ctr"/>
          <a:lstStyle/>
          <a:p>
            <a:pPr indent="0" marL="0">
              <a:buNone/>
            </a:pPr>
            <a:r>
              <a:rPr lang="en-US" sz="4000" b="1" dirty="0">
                <a:solidFill>
                  <a:srgbClr val="EC9D2E"/>
                </a:solidFill>
                <a:latin typeface="Trebuchet MS" pitchFamily="34" charset="0"/>
                <a:ea typeface="Trebuchet MS" pitchFamily="34" charset="-122"/>
                <a:cs typeface="Trebuchet MS" pitchFamily="34" charset="-120"/>
              </a:rPr>
              <a:t>Lo Nuevo en Esta Versión</a:t>
            </a:r>
            <a:endParaRPr lang="en-US" sz="4000" dirty="0"/>
          </a:p>
        </p:txBody>
      </p:sp>
      <p:sp>
        <p:nvSpPr>
          <p:cNvPr id="3" name="Shape 1"/>
          <p:cNvSpPr/>
          <p:nvPr/>
        </p:nvSpPr>
        <p:spPr>
          <a:xfrm>
            <a:off x="914400" y="2971800"/>
            <a:ext cx="5486400" cy="36576"/>
          </a:xfrm>
          <a:prstGeom prst="rect">
            <a:avLst/>
          </a:prstGeom>
          <a:solidFill>
            <a:srgbClr val="EC9D2E"/>
          </a:solidFill>
          <a:ln/>
        </p:spPr>
      </p:sp>
      <p:sp>
        <p:nvSpPr>
          <p:cNvPr id="4" name="Text 2"/>
          <p:cNvSpPr/>
          <p:nvPr/>
        </p:nvSpPr>
        <p:spPr>
          <a:xfrm>
            <a:off x="914400" y="3200400"/>
            <a:ext cx="10058400" cy="548640"/>
          </a:xfrm>
          <a:prstGeom prst="rect">
            <a:avLst/>
          </a:prstGeom>
          <a:noFill/>
          <a:ln/>
        </p:spPr>
        <p:txBody>
          <a:bodyPr wrap="square" rtlCol="0" anchor="ctr"/>
          <a:lstStyle/>
          <a:p>
            <a:pPr indent="0" marL="0">
              <a:buNone/>
            </a:pPr>
            <a:r>
              <a:rPr lang="en-US" sz="1800" dirty="0">
                <a:solidFill>
                  <a:srgbClr val="F8FAFC"/>
                </a:solidFill>
                <a:latin typeface="Arial" pitchFamily="34" charset="0"/>
                <a:ea typeface="Arial" pitchFamily="34" charset="-122"/>
                <a:cs typeface="Arial" pitchFamily="34" charset="-120"/>
              </a:rPr>
              <a:t>Mismo sistema, ahora mucho más usable para la Gerencia y los jefes de área</a:t>
            </a:r>
            <a:endParaRPr lang="en-US" sz="1800" dirty="0"/>
          </a:p>
        </p:txBody>
      </p:sp>
      <p:sp>
        <p:nvSpPr>
          <p:cNvPr id="5" name="Text 3"/>
          <p:cNvSpPr/>
          <p:nvPr/>
        </p:nvSpPr>
        <p:spPr>
          <a:xfrm>
            <a:off x="914400" y="3931920"/>
            <a:ext cx="10058400" cy="54864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Inicio en vivo · Alertas automáticas · Productividad por persona · Reportes ejecutivos · Mayor confiabilidad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Inicio Rediseñado: el Tablero del Gerente</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9784080" y="411480"/>
            <a:ext cx="1737360" cy="457200"/>
          </a:xfrm>
          <a:prstGeom prst="roundRect">
            <a:avLst>
              <a:gd name="adj" fmla="val 20000"/>
            </a:avLst>
          </a:prstGeom>
          <a:solidFill>
            <a:srgbClr val="EC9D2E"/>
          </a:solidFill>
          <a:ln w="12700">
            <a:solidFill>
              <a:srgbClr val="EC9D2E"/>
            </a:solidFill>
            <a:prstDash val="solid"/>
          </a:ln>
        </p:spPr>
      </p:sp>
      <p:sp>
        <p:nvSpPr>
          <p:cNvPr id="6" name="Text 3"/>
          <p:cNvSpPr/>
          <p:nvPr/>
        </p:nvSpPr>
        <p:spPr>
          <a:xfrm>
            <a:off x="9784080" y="411480"/>
            <a:ext cx="1737360" cy="457200"/>
          </a:xfrm>
          <a:prstGeom prst="rect">
            <a:avLst/>
          </a:prstGeom>
          <a:noFill/>
          <a:ln/>
        </p:spPr>
        <p:txBody>
          <a:bodyPr wrap="square" rtlCol="0" anchor="ctr"/>
          <a:lstStyle/>
          <a:p>
            <a:pPr algn="ctr" indent="0" marL="0">
              <a:buNone/>
            </a:pPr>
            <a:r>
              <a:rPr lang="en-US" sz="1300" b="1" dirty="0">
                <a:solidFill>
                  <a:srgbClr val="060B18"/>
                </a:solidFill>
                <a:latin typeface="Arial" pitchFamily="34" charset="0"/>
                <a:ea typeface="Arial" pitchFamily="34" charset="-122"/>
                <a:cs typeface="Arial" pitchFamily="34" charset="-120"/>
              </a:rPr>
              <a:t>NUEVO</a:t>
            </a:r>
            <a:endParaRPr lang="en-US" sz="1300" dirty="0"/>
          </a:p>
        </p:txBody>
      </p:sp>
      <p:sp>
        <p:nvSpPr>
          <p:cNvPr id="7" name="Text 4"/>
          <p:cNvSpPr/>
          <p:nvPr/>
        </p:nvSpPr>
        <p:spPr>
          <a:xfrm>
            <a:off x="731520" y="1371600"/>
            <a:ext cx="10424160" cy="4389120"/>
          </a:xfrm>
          <a:prstGeom prst="rect">
            <a:avLst/>
          </a:prstGeom>
          <a:noFill/>
          <a:ln/>
        </p:spPr>
        <p:txBody>
          <a:bodyPr wrap="square" rtlCol="0" anchor="ctr"/>
          <a:lstStyle/>
          <a:p>
            <a:pPr indent="0" marL="0">
              <a:lnSpc>
                <a:spcPts val="2000"/>
              </a:lnSpc>
              <a:buNone/>
            </a:pPr>
            <a:r>
              <a:rPr lang="en-US" sz="1500" dirty="0">
                <a:solidFill>
                  <a:srgbClr val="F8FAFC"/>
                </a:solidFill>
                <a:latin typeface="Arial" pitchFamily="34" charset="0"/>
                <a:ea typeface="Arial" pitchFamily="34" charset="-122"/>
                <a:cs typeface="Arial" pitchFamily="34" charset="-120"/>
              </a:rPr>
              <a:t>Rediseñamos la pantalla de inicio para que responda en 5 segundos las preguntas del gerente: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¿cuánta plata tengo en juego y cuánto falta cobrar? ¿qué se entrega pronto? ¿quién hizo qué?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4 indicadores de un vistazo: </a:t>
            </a:r>
            <a:pPr indent="0" marL="0">
              <a:lnSpc>
                <a:spcPts val="2000"/>
              </a:lnSpc>
              <a:buNone/>
            </a:pPr>
            <a:r>
              <a:rPr lang="en-US" sz="1500" dirty="0">
                <a:solidFill>
                  <a:srgbClr val="F8FAFC"/>
                </a:solidFill>
                <a:latin typeface="Arial" pitchFamily="34" charset="0"/>
                <a:ea typeface="Arial" pitchFamily="34" charset="-122"/>
                <a:cs typeface="Arial" pitchFamily="34" charset="-120"/>
              </a:rPr>
              <a:t>Proyectos activos · Avance de producción · Plata en proyectos (cobrado vs. por cobrar) · Entregas y retrasos.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Lenguaje de planta, no técnico: </a:t>
            </a:r>
            <a:pPr indent="0" marL="0">
              <a:lnSpc>
                <a:spcPts val="2000"/>
              </a:lnSpc>
              <a:buNone/>
            </a:pPr>
            <a:r>
              <a:rPr lang="en-US" sz="1500" dirty="0">
                <a:solidFill>
                  <a:srgbClr val="F8FAFC"/>
                </a:solidFill>
                <a:latin typeface="Arial" pitchFamily="34" charset="0"/>
                <a:ea typeface="Arial" pitchFamily="34" charset="-122"/>
                <a:cs typeface="Arial" pitchFamily="34" charset="-120"/>
              </a:rPr>
              <a:t>"Lo que toca entregar pronto (los retrasados primero)", "¿En qué etapa está cada proyecto?".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La tarjeta de retrasos se pinta de rojo sola </a:t>
            </a:r>
            <a:pPr indent="0" marL="0">
              <a:lnSpc>
                <a:spcPts val="2000"/>
              </a:lnSpc>
              <a:buNone/>
            </a:pPr>
            <a:r>
              <a:rPr lang="en-US" sz="1500" dirty="0">
                <a:solidFill>
                  <a:srgbClr val="F8FAFC"/>
                </a:solidFill>
                <a:latin typeface="Arial" pitchFamily="34" charset="0"/>
                <a:ea typeface="Arial" pitchFamily="34" charset="-122"/>
                <a:cs typeface="Arial" pitchFamily="34" charset="-120"/>
              </a:rPr>
              <a:t>cuando hay proyectos vencidos: la gerencia ve el problema sin buscarlo.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Centro de Control en Vivo (Tiempo Real de Verdad)</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9784080" y="411480"/>
            <a:ext cx="1737360" cy="457200"/>
          </a:xfrm>
          <a:prstGeom prst="roundRect">
            <a:avLst>
              <a:gd name="adj" fmla="val 20000"/>
            </a:avLst>
          </a:prstGeom>
          <a:solidFill>
            <a:srgbClr val="EC9D2E"/>
          </a:solidFill>
          <a:ln w="12700">
            <a:solidFill>
              <a:srgbClr val="EC9D2E"/>
            </a:solidFill>
            <a:prstDash val="solid"/>
          </a:ln>
        </p:spPr>
      </p:sp>
      <p:sp>
        <p:nvSpPr>
          <p:cNvPr id="6" name="Text 3"/>
          <p:cNvSpPr/>
          <p:nvPr/>
        </p:nvSpPr>
        <p:spPr>
          <a:xfrm>
            <a:off x="9784080" y="411480"/>
            <a:ext cx="1737360" cy="457200"/>
          </a:xfrm>
          <a:prstGeom prst="rect">
            <a:avLst/>
          </a:prstGeom>
          <a:noFill/>
          <a:ln/>
        </p:spPr>
        <p:txBody>
          <a:bodyPr wrap="square" rtlCol="0" anchor="ctr"/>
          <a:lstStyle/>
          <a:p>
            <a:pPr algn="ctr" indent="0" marL="0">
              <a:buNone/>
            </a:pPr>
            <a:r>
              <a:rPr lang="en-US" sz="1300" b="1" dirty="0">
                <a:solidFill>
                  <a:srgbClr val="060B18"/>
                </a:solidFill>
                <a:latin typeface="Arial" pitchFamily="34" charset="0"/>
                <a:ea typeface="Arial" pitchFamily="34" charset="-122"/>
                <a:cs typeface="Arial" pitchFamily="34" charset="-120"/>
              </a:rPr>
              <a:t>MEJORADO</a:t>
            </a:r>
            <a:endParaRPr lang="en-US" sz="1300" dirty="0"/>
          </a:p>
        </p:txBody>
      </p:sp>
      <p:sp>
        <p:nvSpPr>
          <p:cNvPr id="7" name="Text 4"/>
          <p:cNvSpPr/>
          <p:nvPr/>
        </p:nvSpPr>
        <p:spPr>
          <a:xfrm>
            <a:off x="731520" y="1371600"/>
            <a:ext cx="10424160" cy="4389120"/>
          </a:xfrm>
          <a:prstGeom prst="rect">
            <a:avLst/>
          </a:prstGeom>
          <a:noFill/>
          <a:ln/>
        </p:spPr>
        <p:txBody>
          <a:bodyPr wrap="square" rtlCol="0" anchor="ctr"/>
          <a:lstStyle/>
          <a:p>
            <a:pPr indent="0" marL="0">
              <a:lnSpc>
                <a:spcPts val="2000"/>
              </a:lnSpc>
              <a:buNone/>
            </a:pPr>
            <a:r>
              <a:rPr lang="en-US" sz="1500" dirty="0">
                <a:solidFill>
                  <a:srgbClr val="F8FAFC"/>
                </a:solidFill>
                <a:latin typeface="Arial" pitchFamily="34" charset="0"/>
                <a:ea typeface="Arial" pitchFamily="34" charset="-122"/>
                <a:cs typeface="Arial" pitchFamily="34" charset="-120"/>
              </a:rPr>
              <a:t>Antes el tablero se refrescaba cada 10 segundos. Ahora la actividad llega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al instante, empujada desde la base de datos</a:t>
            </a:r>
            <a:pPr indent="0" marL="0">
              <a:lnSpc>
                <a:spcPts val="2000"/>
              </a:lnSpc>
              <a:buNone/>
            </a:pPr>
            <a:r>
              <a:rPr lang="en-US" sz="1500" dirty="0">
                <a:solidFill>
                  <a:srgbClr val="F8FAFC"/>
                </a:solidFill>
                <a:latin typeface="Arial" pitchFamily="34" charset="0"/>
                <a:ea typeface="Arial" pitchFamily="34" charset="-122"/>
                <a:cs typeface="Arial" pitchFamily="34" charset="-120"/>
              </a:rPr>
              <a:t> (WebSockets), con el refresco periódico solo como respaldo.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Aviso imposible de ignorar: </a:t>
            </a:r>
            <a:pPr indent="0" marL="0">
              <a:lnSpc>
                <a:spcPts val="2000"/>
              </a:lnSpc>
              <a:buNone/>
            </a:pPr>
            <a:r>
              <a:rPr lang="en-US" sz="1500" dirty="0">
                <a:solidFill>
                  <a:srgbClr val="F8FAFC"/>
                </a:solidFill>
                <a:latin typeface="Arial" pitchFamily="34" charset="0"/>
                <a:ea typeface="Arial" pitchFamily="34" charset="-122"/>
                <a:cs typeface="Arial" pitchFamily="34" charset="-120"/>
              </a:rPr>
              <a:t>cada acción nueva entra con un destello dorado y un sonido sutil de campana.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Filtros instantáneos: </a:t>
            </a:r>
            <a:pPr indent="0" marL="0">
              <a:lnSpc>
                <a:spcPts val="2000"/>
              </a:lnSpc>
              <a:buNone/>
            </a:pPr>
            <a:r>
              <a:rPr lang="en-US" sz="1500" dirty="0">
                <a:solidFill>
                  <a:srgbClr val="F8FAFC"/>
                </a:solidFill>
                <a:latin typeface="Arial" pitchFamily="34" charset="0"/>
                <a:ea typeface="Arial" pitchFamily="34" charset="-122"/>
                <a:cs typeface="Arial" pitchFamily="34" charset="-120"/>
              </a:rPr>
              <a:t>por área (Comercial, Ingeniería, Logística…), por tipo de acción (firmas, metrado, pagos, documentos) y búsqueda libre por usuario, cliente o PR.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Tags clicables: </a:t>
            </a:r>
            <a:pPr indent="0" marL="0">
              <a:lnSpc>
                <a:spcPts val="2000"/>
              </a:lnSpc>
              <a:buNone/>
            </a:pPr>
            <a:r>
              <a:rPr lang="en-US" sz="1500" dirty="0">
                <a:solidFill>
                  <a:srgbClr val="F8FAFC"/>
                </a:solidFill>
                <a:latin typeface="Arial" pitchFamily="34" charset="0"/>
                <a:ea typeface="Arial" pitchFamily="34" charset="-122"/>
                <a:cs typeface="Arial" pitchFamily="34" charset="-120"/>
              </a:rPr>
              <a:t>desde cualquier evento se salta directo al proyecto involucrado.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Alertas Automáticas de Vencimiento (Robot Diario)</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9784080" y="411480"/>
            <a:ext cx="1737360" cy="457200"/>
          </a:xfrm>
          <a:prstGeom prst="roundRect">
            <a:avLst>
              <a:gd name="adj" fmla="val 20000"/>
            </a:avLst>
          </a:prstGeom>
          <a:solidFill>
            <a:srgbClr val="EC9D2E"/>
          </a:solidFill>
          <a:ln w="12700">
            <a:solidFill>
              <a:srgbClr val="EC9D2E"/>
            </a:solidFill>
            <a:prstDash val="solid"/>
          </a:ln>
        </p:spPr>
      </p:sp>
      <p:sp>
        <p:nvSpPr>
          <p:cNvPr id="6" name="Text 3"/>
          <p:cNvSpPr/>
          <p:nvPr/>
        </p:nvSpPr>
        <p:spPr>
          <a:xfrm>
            <a:off x="9784080" y="411480"/>
            <a:ext cx="1737360" cy="457200"/>
          </a:xfrm>
          <a:prstGeom prst="rect">
            <a:avLst/>
          </a:prstGeom>
          <a:noFill/>
          <a:ln/>
        </p:spPr>
        <p:txBody>
          <a:bodyPr wrap="square" rtlCol="0" anchor="ctr"/>
          <a:lstStyle/>
          <a:p>
            <a:pPr algn="ctr" indent="0" marL="0">
              <a:buNone/>
            </a:pPr>
            <a:r>
              <a:rPr lang="en-US" sz="1300" b="1" dirty="0">
                <a:solidFill>
                  <a:srgbClr val="060B18"/>
                </a:solidFill>
                <a:latin typeface="Arial" pitchFamily="34" charset="0"/>
                <a:ea typeface="Arial" pitchFamily="34" charset="-122"/>
                <a:cs typeface="Arial" pitchFamily="34" charset="-120"/>
              </a:rPr>
              <a:t>NUEVO</a:t>
            </a:r>
            <a:endParaRPr lang="en-US" sz="1300" dirty="0"/>
          </a:p>
        </p:txBody>
      </p:sp>
      <p:sp>
        <p:nvSpPr>
          <p:cNvPr id="7" name="Text 4"/>
          <p:cNvSpPr/>
          <p:nvPr/>
        </p:nvSpPr>
        <p:spPr>
          <a:xfrm>
            <a:off x="731520" y="1371600"/>
            <a:ext cx="10424160" cy="4389120"/>
          </a:xfrm>
          <a:prstGeom prst="rect">
            <a:avLst/>
          </a:prstGeom>
          <a:noFill/>
          <a:ln/>
        </p:spPr>
        <p:txBody>
          <a:bodyPr wrap="square" rtlCol="0" anchor="ctr"/>
          <a:lstStyle/>
          <a:p>
            <a:pPr indent="0" marL="0">
              <a:lnSpc>
                <a:spcPts val="2000"/>
              </a:lnSpc>
              <a:buNone/>
            </a:pPr>
            <a:r>
              <a:rPr lang="en-US" sz="1500" dirty="0">
                <a:solidFill>
                  <a:srgbClr val="F8FAFC"/>
                </a:solidFill>
                <a:latin typeface="Arial" pitchFamily="34" charset="0"/>
                <a:ea typeface="Arial" pitchFamily="34" charset="-122"/>
                <a:cs typeface="Arial" pitchFamily="34" charset="-120"/>
              </a:rPr>
              <a:t>El sistema ahora vigila los plazos por su cuenta.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Todos los días a las 8:00 a.m. (hora Lima)</a:t>
            </a:r>
            <a:pPr indent="0" marL="0">
              <a:lnSpc>
                <a:spcPts val="2000"/>
              </a:lnSpc>
              <a:buNone/>
            </a:pPr>
            <a:r>
              <a:rPr lang="en-US" sz="1500" dirty="0">
                <a:solidFill>
                  <a:srgbClr val="F8FAFC"/>
                </a:solidFill>
                <a:latin typeface="Arial" pitchFamily="34" charset="0"/>
                <a:ea typeface="Arial" pitchFamily="34" charset="-122"/>
                <a:cs typeface="Arial" pitchFamily="34" charset="-120"/>
              </a:rPr>
              <a:t> un proceso automático revisa cada proyecto y avisa antes de que sea tarde.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Avisa al área correcta: </a:t>
            </a:r>
            <a:pPr indent="0" marL="0">
              <a:lnSpc>
                <a:spcPts val="2000"/>
              </a:lnSpc>
              <a:buNone/>
            </a:pPr>
            <a:r>
              <a:rPr lang="en-US" sz="1500" dirty="0">
                <a:solidFill>
                  <a:srgbClr val="F8FAFC"/>
                </a:solidFill>
                <a:latin typeface="Arial" pitchFamily="34" charset="0"/>
                <a:ea typeface="Arial" pitchFamily="34" charset="-122"/>
                <a:cs typeface="Arial" pitchFamily="34" charset="-120"/>
              </a:rPr>
              <a:t>la alerta llega al rol dueño de la etapa que está frenando el proyecto, no a todos por igual.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Margen configurable: </a:t>
            </a:r>
            <a:pPr indent="0" marL="0">
              <a:lnSpc>
                <a:spcPts val="2000"/>
              </a:lnSpc>
              <a:buNone/>
            </a:pPr>
            <a:r>
              <a:rPr lang="en-US" sz="1500" dirty="0">
                <a:solidFill>
                  <a:srgbClr val="F8FAFC"/>
                </a:solidFill>
                <a:latin typeface="Arial" pitchFamily="34" charset="0"/>
                <a:ea typeface="Arial" pitchFamily="34" charset="-122"/>
                <a:cs typeface="Arial" pitchFamily="34" charset="-120"/>
              </a:rPr>
              <a:t>desde Configuración se define con cuántos días de anticipación avisar (por defecto 7).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Sin spam: </a:t>
            </a:r>
            <a:pPr indent="0" marL="0">
              <a:lnSpc>
                <a:spcPts val="2000"/>
              </a:lnSpc>
              <a:buNone/>
            </a:pPr>
            <a:r>
              <a:rPr lang="en-US" sz="1500" dirty="0">
                <a:solidFill>
                  <a:srgbClr val="F8FAFC"/>
                </a:solidFill>
                <a:latin typeface="Arial" pitchFamily="34" charset="0"/>
                <a:ea typeface="Arial" pitchFamily="34" charset="-122"/>
                <a:cs typeface="Arial" pitchFamily="34" charset="-120"/>
              </a:rPr>
              <a:t>cada alerta se manda una sola vez. Si se reprograma la entrega, el sistema se reinicia y puede volver a avisar si vuelve a acercarse el plazo.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Productividad del Equipo (Avance, no Presencia)</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9784080" y="411480"/>
            <a:ext cx="1737360" cy="457200"/>
          </a:xfrm>
          <a:prstGeom prst="roundRect">
            <a:avLst>
              <a:gd name="adj" fmla="val 20000"/>
            </a:avLst>
          </a:prstGeom>
          <a:solidFill>
            <a:srgbClr val="EC9D2E"/>
          </a:solidFill>
          <a:ln w="12700">
            <a:solidFill>
              <a:srgbClr val="EC9D2E"/>
            </a:solidFill>
            <a:prstDash val="solid"/>
          </a:ln>
        </p:spPr>
      </p:sp>
      <p:sp>
        <p:nvSpPr>
          <p:cNvPr id="6" name="Text 3"/>
          <p:cNvSpPr/>
          <p:nvPr/>
        </p:nvSpPr>
        <p:spPr>
          <a:xfrm>
            <a:off x="9784080" y="411480"/>
            <a:ext cx="1737360" cy="457200"/>
          </a:xfrm>
          <a:prstGeom prst="rect">
            <a:avLst/>
          </a:prstGeom>
          <a:noFill/>
          <a:ln/>
        </p:spPr>
        <p:txBody>
          <a:bodyPr wrap="square" rtlCol="0" anchor="ctr"/>
          <a:lstStyle/>
          <a:p>
            <a:pPr algn="ctr" indent="0" marL="0">
              <a:buNone/>
            </a:pPr>
            <a:r>
              <a:rPr lang="en-US" sz="1300" b="1" dirty="0">
                <a:solidFill>
                  <a:srgbClr val="060B18"/>
                </a:solidFill>
                <a:latin typeface="Arial" pitchFamily="34" charset="0"/>
                <a:ea typeface="Arial" pitchFamily="34" charset="-122"/>
                <a:cs typeface="Arial" pitchFamily="34" charset="-120"/>
              </a:rPr>
              <a:t>NUEVO</a:t>
            </a:r>
            <a:endParaRPr lang="en-US" sz="1300" dirty="0"/>
          </a:p>
        </p:txBody>
      </p:sp>
      <p:sp>
        <p:nvSpPr>
          <p:cNvPr id="7" name="Text 4"/>
          <p:cNvSpPr/>
          <p:nvPr/>
        </p:nvSpPr>
        <p:spPr>
          <a:xfrm>
            <a:off x="731520" y="1371600"/>
            <a:ext cx="10424160" cy="4389120"/>
          </a:xfrm>
          <a:prstGeom prst="rect">
            <a:avLst/>
          </a:prstGeom>
          <a:noFill/>
          <a:ln/>
        </p:spPr>
        <p:txBody>
          <a:bodyPr wrap="square" rtlCol="0" anchor="ctr"/>
          <a:lstStyle/>
          <a:p>
            <a:pPr indent="0" marL="0">
              <a:lnSpc>
                <a:spcPts val="2000"/>
              </a:lnSpc>
              <a:buNone/>
            </a:pPr>
            <a:r>
              <a:rPr lang="en-US" sz="1500" dirty="0">
                <a:solidFill>
                  <a:srgbClr val="F8FAFC"/>
                </a:solidFill>
                <a:latin typeface="Arial" pitchFamily="34" charset="0"/>
                <a:ea typeface="Arial" pitchFamily="34" charset="-122"/>
                <a:cs typeface="Arial" pitchFamily="34" charset="-120"/>
              </a:rPr>
              <a:t>Un panel nuevo que responde "¿quién está moviendo el trabajo?" midiendo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avance real, no horas frente a la pantalla.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Hitos de valor vs. rutina: </a:t>
            </a:r>
            <a:pPr indent="0" marL="0">
              <a:lnSpc>
                <a:spcPts val="2000"/>
              </a:lnSpc>
              <a:buNone/>
            </a:pPr>
            <a:r>
              <a:rPr lang="en-US" sz="1500" dirty="0">
                <a:solidFill>
                  <a:srgbClr val="F8FAFC"/>
                </a:solidFill>
                <a:latin typeface="Arial" pitchFamily="34" charset="0"/>
                <a:ea typeface="Arial" pitchFamily="34" charset="-122"/>
                <a:cs typeface="Arial" pitchFamily="34" charset="-120"/>
              </a:rPr>
              <a:t>separa las acciones que mueven la aguja (firmas de etapa, importar metrado, compras, avance de producción, crear proyectos, subir documentos) del trabajo rutinario.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Detección de inactividad: </a:t>
            </a:r>
            <a:pPr indent="0" marL="0">
              <a:lnSpc>
                <a:spcPts val="2000"/>
              </a:lnSpc>
              <a:buNone/>
            </a:pPr>
            <a:r>
              <a:rPr lang="en-US" sz="1500" dirty="0">
                <a:solidFill>
                  <a:srgbClr val="F8FAFC"/>
                </a:solidFill>
                <a:latin typeface="Arial" pitchFamily="34" charset="0"/>
                <a:ea typeface="Arial" pitchFamily="34" charset="-122"/>
                <a:cs typeface="Arial" pitchFamily="34" charset="-120"/>
              </a:rPr>
              <a:t>quien no registró movimientos en el período aparece marcado en rojo.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Rangos rápidos: </a:t>
            </a:r>
            <a:pPr indent="0" marL="0">
              <a:lnSpc>
                <a:spcPts val="2000"/>
              </a:lnSpc>
              <a:buNone/>
            </a:pPr>
            <a:r>
              <a:rPr lang="en-US" sz="1500" dirty="0">
                <a:solidFill>
                  <a:srgbClr val="F8FAFC"/>
                </a:solidFill>
                <a:latin typeface="Arial" pitchFamily="34" charset="0"/>
                <a:ea typeface="Arial" pitchFamily="34" charset="-122"/>
                <a:cs typeface="Arial" pitchFamily="34" charset="-120"/>
              </a:rPr>
              <a:t>Hoy · 7 días · 30 días, por persona y por área.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EC9D2E"/>
                </a:solidFill>
                <a:latin typeface="Trebuchet MS" pitchFamily="34" charset="0"/>
                <a:ea typeface="Trebuchet MS" pitchFamily="34" charset="-122"/>
                <a:cs typeface="Trebuchet MS" pitchFamily="34" charset="-120"/>
              </a:rPr>
              <a:t>Reportes Ejecutivos y Mayor Confiabilidad</a:t>
            </a:r>
            <a:endParaRPr lang="en-US" sz="2800" dirty="0"/>
          </a:p>
        </p:txBody>
      </p:sp>
      <p:sp>
        <p:nvSpPr>
          <p:cNvPr id="3" name="Shape 1"/>
          <p:cNvSpPr/>
          <p:nvPr/>
        </p:nvSpPr>
        <p:spPr>
          <a:xfrm>
            <a:off x="548640" y="1005840"/>
            <a:ext cx="10515600" cy="27432"/>
          </a:xfrm>
          <a:prstGeom prst="rect">
            <a:avLst/>
          </a:prstGeom>
          <a:solidFill>
            <a:srgbClr val="EC9D2E"/>
          </a:solidFill>
          <a:ln/>
        </p:spPr>
      </p:sp>
      <p:sp>
        <p:nvSpPr>
          <p:cNvPr id="5" name="Shape 2"/>
          <p:cNvSpPr/>
          <p:nvPr/>
        </p:nvSpPr>
        <p:spPr>
          <a:xfrm>
            <a:off x="9784080" y="411480"/>
            <a:ext cx="1737360" cy="457200"/>
          </a:xfrm>
          <a:prstGeom prst="roundRect">
            <a:avLst>
              <a:gd name="adj" fmla="val 20000"/>
            </a:avLst>
          </a:prstGeom>
          <a:solidFill>
            <a:srgbClr val="EC9D2E"/>
          </a:solidFill>
          <a:ln w="12700">
            <a:solidFill>
              <a:srgbClr val="EC9D2E"/>
            </a:solidFill>
            <a:prstDash val="solid"/>
          </a:ln>
        </p:spPr>
      </p:sp>
      <p:sp>
        <p:nvSpPr>
          <p:cNvPr id="6" name="Text 3"/>
          <p:cNvSpPr/>
          <p:nvPr/>
        </p:nvSpPr>
        <p:spPr>
          <a:xfrm>
            <a:off x="9784080" y="411480"/>
            <a:ext cx="1737360" cy="457200"/>
          </a:xfrm>
          <a:prstGeom prst="rect">
            <a:avLst/>
          </a:prstGeom>
          <a:noFill/>
          <a:ln/>
        </p:spPr>
        <p:txBody>
          <a:bodyPr wrap="square" rtlCol="0" anchor="ctr"/>
          <a:lstStyle/>
          <a:p>
            <a:pPr algn="ctr" indent="0" marL="0">
              <a:buNone/>
            </a:pPr>
            <a:r>
              <a:rPr lang="en-US" sz="1300" b="1" dirty="0">
                <a:solidFill>
                  <a:srgbClr val="060B18"/>
                </a:solidFill>
                <a:latin typeface="Arial" pitchFamily="34" charset="0"/>
                <a:ea typeface="Arial" pitchFamily="34" charset="-122"/>
                <a:cs typeface="Arial" pitchFamily="34" charset="-120"/>
              </a:rPr>
              <a:t>MEJORADO</a:t>
            </a:r>
            <a:endParaRPr lang="en-US" sz="1300" dirty="0"/>
          </a:p>
        </p:txBody>
      </p:sp>
      <p:sp>
        <p:nvSpPr>
          <p:cNvPr id="7" name="Text 4"/>
          <p:cNvSpPr/>
          <p:nvPr/>
        </p:nvSpPr>
        <p:spPr>
          <a:xfrm>
            <a:off x="731520" y="1371600"/>
            <a:ext cx="10424160" cy="4389120"/>
          </a:xfrm>
          <a:prstGeom prst="rect">
            <a:avLst/>
          </a:prstGeom>
          <a:noFill/>
          <a:ln/>
        </p:spPr>
        <p:txBody>
          <a:bodyPr wrap="square" rtlCol="0" anchor="ctr"/>
          <a:lstStyle/>
          <a:p>
            <a:pPr indent="0" marL="0">
              <a:lnSpc>
                <a:spcPts val="2000"/>
              </a:lnSpc>
              <a:buNone/>
            </a:pPr>
            <a:r>
              <a:rPr lang="en-US" sz="1500" b="1" dirty="0">
                <a:solidFill>
                  <a:srgbClr val="EC9D2E"/>
                </a:solidFill>
                <a:latin typeface="Arial" pitchFamily="34" charset="0"/>
                <a:ea typeface="Arial" pitchFamily="34" charset="-122"/>
                <a:cs typeface="Arial" pitchFamily="34" charset="-120"/>
              </a:rPr>
              <a:t>• Reportes en 3 pestañas: </a:t>
            </a:r>
            <a:pPr indent="0" marL="0">
              <a:lnSpc>
                <a:spcPts val="2000"/>
              </a:lnSpc>
              <a:buNone/>
            </a:pPr>
            <a:r>
              <a:rPr lang="en-US" sz="1500" dirty="0">
                <a:solidFill>
                  <a:srgbClr val="F8FAFC"/>
                </a:solidFill>
                <a:latin typeface="Arial" pitchFamily="34" charset="0"/>
                <a:ea typeface="Arial" pitchFamily="34" charset="-122"/>
                <a:cs typeface="Arial" pitchFamily="34" charset="-120"/>
              </a:rPr>
              <a:t>General (estado y avance), Financiero (montos, cobrado, por cobrar) y Responsables (rendimiento por persona), con filtros y exportación a Excel y PDF.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Interfaz más limpia: </a:t>
            </a:r>
            <a:pPr indent="0" marL="0">
              <a:lnSpc>
                <a:spcPts val="2000"/>
              </a:lnSpc>
              <a:buNone/>
            </a:pPr>
            <a:r>
              <a:rPr lang="en-US" sz="1500" dirty="0">
                <a:solidFill>
                  <a:srgbClr val="F8FAFC"/>
                </a:solidFill>
                <a:latin typeface="Arial" pitchFamily="34" charset="0"/>
                <a:ea typeface="Arial" pitchFamily="34" charset="-122"/>
                <a:cs typeface="Arial" pitchFamily="34" charset="-120"/>
              </a:rPr>
              <a:t>consolidamos el menú lateral y quitamos pantallas sueltas para que nadie se pierda.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Confiabilidad bajo presión: </a:t>
            </a:r>
            <a:pPr indent="0" marL="0">
              <a:lnSpc>
                <a:spcPts val="2000"/>
              </a:lnSpc>
              <a:buNone/>
            </a:pPr>
            <a:r>
              <a:rPr lang="en-US" sz="1500" dirty="0">
                <a:solidFill>
                  <a:srgbClr val="F8FAFC"/>
                </a:solidFill>
                <a:latin typeface="Arial" pitchFamily="34" charset="0"/>
                <a:ea typeface="Arial" pitchFamily="34" charset="-122"/>
                <a:cs typeface="Arial" pitchFamily="34" charset="-120"/>
              </a:rPr>
              <a:t>corregimos una condición de carrera que podía sobrescribir cambios cuando dos áreas trabajaban a la vez. Hoy el último estado siempre es el correcto.
</a:t>
            </a:r>
            <a:pPr indent="0" marL="0">
              <a:lnSpc>
                <a:spcPts val="2000"/>
              </a:lnSpc>
              <a:buNone/>
            </a:pPr>
            <a:r>
              <a:rPr lang="en-US" sz="1500" b="1" dirty="0">
                <a:solidFill>
                  <a:srgbClr val="EC9D2E"/>
                </a:solidFill>
                <a:latin typeface="Arial" pitchFamily="34" charset="0"/>
                <a:ea typeface="Arial" pitchFamily="34" charset="-122"/>
                <a:cs typeface="Arial" pitchFamily="34" charset="-120"/>
              </a:rPr>
              <a:t>• Validaciones y avisos cruzados: </a:t>
            </a:r>
            <a:pPr indent="0" marL="0">
              <a:lnSpc>
                <a:spcPts val="2000"/>
              </a:lnSpc>
              <a:buNone/>
            </a:pPr>
            <a:r>
              <a:rPr lang="en-US" sz="1500" dirty="0">
                <a:solidFill>
                  <a:srgbClr val="F8FAFC"/>
                </a:solidFill>
                <a:latin typeface="Arial" pitchFamily="34" charset="0"/>
                <a:ea typeface="Arial" pitchFamily="34" charset="-122"/>
                <a:cs typeface="Arial" pitchFamily="34" charset="-120"/>
              </a:rPr>
              <a:t>plazos sin valores negativos, y Logística se entera del metrado aunque lo cargue un administrador.</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B18"/>
        </a:solidFill>
      </p:bgPr>
    </p:bg>
    <p:spTree>
      <p:nvGrpSpPr>
        <p:cNvPr id="1" name=""/>
        <p:cNvGrpSpPr/>
        <p:nvPr/>
      </p:nvGrpSpPr>
      <p:grpSpPr>
        <a:xfrm>
          <a:off x="0" y="0"/>
          <a:ext cx="0" cy="0"/>
          <a:chOff x="0" y="0"/>
          <a:chExt cx="0" cy="0"/>
        </a:xfrm>
      </p:grpSpPr>
      <p:sp>
        <p:nvSpPr>
          <p:cNvPr id="2" name="Text 0"/>
          <p:cNvSpPr/>
          <p:nvPr/>
        </p:nvSpPr>
        <p:spPr>
          <a:xfrm>
            <a:off x="914400" y="1645920"/>
            <a:ext cx="10332720" cy="914400"/>
          </a:xfrm>
          <a:prstGeom prst="rect">
            <a:avLst/>
          </a:prstGeom>
          <a:noFill/>
          <a:ln/>
        </p:spPr>
        <p:txBody>
          <a:bodyPr wrap="square" rtlCol="0" anchor="ctr"/>
          <a:lstStyle/>
          <a:p>
            <a:pPr indent="0" marL="0">
              <a:buNone/>
            </a:pPr>
            <a:r>
              <a:rPr lang="en-US" sz="3600" b="1" dirty="0">
                <a:solidFill>
                  <a:srgbClr val="EC9D2E"/>
                </a:solidFill>
                <a:latin typeface="Trebuchet MS" pitchFamily="34" charset="0"/>
                <a:ea typeface="Trebuchet MS" pitchFamily="34" charset="-122"/>
                <a:cs typeface="Trebuchet MS" pitchFamily="34" charset="-120"/>
              </a:rPr>
              <a:t>El Futuro de Nuestra Operación Comienza Hoy</a:t>
            </a:r>
            <a:endParaRPr lang="en-US" sz="3600" dirty="0"/>
          </a:p>
        </p:txBody>
      </p:sp>
      <p:sp>
        <p:nvSpPr>
          <p:cNvPr id="3" name="Text 1"/>
          <p:cNvSpPr/>
          <p:nvPr/>
        </p:nvSpPr>
        <p:spPr>
          <a:xfrm>
            <a:off x="914400" y="2743200"/>
            <a:ext cx="9601200" cy="1371600"/>
          </a:xfrm>
          <a:prstGeom prst="rect">
            <a:avLst/>
          </a:prstGeom>
          <a:noFill/>
          <a:ln/>
        </p:spPr>
        <p:txBody>
          <a:bodyPr wrap="square" rtlCol="0" anchor="ctr"/>
          <a:lstStyle/>
          <a:p>
            <a:pPr indent="0" marL="0">
              <a:lnSpc>
                <a:spcPts val="2800"/>
              </a:lnSpc>
              <a:buNone/>
            </a:pPr>
            <a:r>
              <a:rPr lang="en-US" sz="1800" dirty="0">
                <a:solidFill>
                  <a:srgbClr val="F8FAFC"/>
                </a:solidFill>
                <a:latin typeface="Arial" pitchFamily="34" charset="0"/>
                <a:ea typeface="Arial" pitchFamily="34" charset="-122"/>
                <a:cs typeface="Arial" pitchFamily="34" charset="-120"/>
              </a:rPr>
              <a:t>Con BBTI ERP, consolidamos una </a:t>
            </a:r>
            <a:pPr indent="0" marL="0">
              <a:lnSpc>
                <a:spcPts val="2800"/>
              </a:lnSpc>
              <a:buNone/>
            </a:pPr>
            <a:r>
              <a:rPr lang="en-US" sz="1800" b="1" dirty="0">
                <a:solidFill>
                  <a:srgbClr val="EC9D2E"/>
                </a:solidFill>
                <a:latin typeface="Arial" pitchFamily="34" charset="0"/>
                <a:ea typeface="Arial" pitchFamily="34" charset="-122"/>
                <a:cs typeface="Arial" pitchFamily="34" charset="-120"/>
              </a:rPr>
              <a:t>planta conectada, transparente y eficiente</a:t>
            </a:r>
            <a:pPr indent="0" marL="0">
              <a:lnSpc>
                <a:spcPts val="2800"/>
              </a:lnSpc>
              <a:buNone/>
            </a:pPr>
            <a:r>
              <a:rPr lang="en-US" sz="1800" dirty="0">
                <a:solidFill>
                  <a:srgbClr val="F8FAFC"/>
                </a:solidFill>
                <a:latin typeface="Arial" pitchFamily="34" charset="0"/>
                <a:ea typeface="Arial" pitchFamily="34" charset="-122"/>
                <a:cs typeface="Arial" pitchFamily="34" charset="-120"/>
              </a:rPr>
              <a:t>. Reducimos costos, delimitamos responsabilidades y brindamos a la gerencia la tranquilidad de tener el control total al alcance de su mano.</a:t>
            </a:r>
            <a:endParaRPr lang="en-US" sz="1800" dirty="0"/>
          </a:p>
        </p:txBody>
      </p:sp>
      <p:sp>
        <p:nvSpPr>
          <p:cNvPr id="4" name="Text 2"/>
          <p:cNvSpPr/>
          <p:nvPr/>
        </p:nvSpPr>
        <p:spPr>
          <a:xfrm>
            <a:off x="914400" y="4389120"/>
            <a:ext cx="10332720" cy="548640"/>
          </a:xfrm>
          <a:prstGeom prst="rect">
            <a:avLst/>
          </a:prstGeom>
          <a:noFill/>
          <a:ln/>
        </p:spPr>
        <p:txBody>
          <a:bodyPr wrap="square" rtlCol="0" anchor="ctr"/>
          <a:lstStyle/>
          <a:p>
            <a:pPr indent="0" marL="0">
              <a:buNone/>
            </a:pPr>
            <a:r>
              <a:rPr lang="en-US" sz="2000" b="1" dirty="0">
                <a:solidFill>
                  <a:srgbClr val="EC9D2E"/>
                </a:solidFill>
                <a:latin typeface="Arial" pitchFamily="34" charset="0"/>
                <a:ea typeface="Arial" pitchFamily="34" charset="-122"/>
                <a:cs typeface="Arial" pitchFamily="34" charset="-120"/>
              </a:rPr>
              <a:t>Muchas Gracias. ¿Preguntas?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2026-06-26T20:30:14Z</dcterms:created>
  <dcterms:modified xsi:type="dcterms:W3CDTF">2026-06-26T20:30:14Z</dcterms:modified>
</cp:coreProperties>
</file>